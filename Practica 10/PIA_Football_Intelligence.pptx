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A9BB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A9BB0"/>
                </a:solidFill>
                <a:latin typeface="Arial"/>
              </a:rPr>
              <a:t>R² de tendencia alcista del overround por liga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498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59B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Premier
League</c:v>
                  </c:pt>
                  <c:pt idx="1">
                    <c:v>Serie A</c:v>
                  </c:pt>
                  <c:pt idx="2">
                    <c:v>La Liga</c:v>
                  </c:pt>
                  <c:pt idx="3">
                    <c:v>Bundesliga</c:v>
                  </c:pt>
                  <c:pt idx="4">
                    <c:v>Ligue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0.289</c:v>
                </c:pt>
                <c:pt idx="1">
                  <c:v>0.145</c:v>
                </c:pt>
                <c:pt idx="2">
                  <c:v>0.159</c:v>
                </c:pt>
                <c:pt idx="3">
                  <c:v>0.12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0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histórica</c:v>
                </c:pt>
              </c:strCache>
            </c:strRef>
          </c:tx>
          <c:spPr>
            <a:solidFill>
              <a:srgbClr val="8A9B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Premier</c:v>
                  </c:pt>
                  <c:pt idx="1">
                    <c:v>La Liga</c:v>
                  </c:pt>
                  <c:pt idx="2">
                    <c:v>Bundesliga</c:v>
                  </c:pt>
                  <c:pt idx="3">
                    <c:v>Serie A</c:v>
                  </c:pt>
                  <c:pt idx="4">
                    <c:v>Ligue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54.7</c:v>
                </c:pt>
                <c:pt idx="1">
                  <c:v>47</c:v>
                </c:pt>
                <c:pt idx="2">
                  <c:v>61.4</c:v>
                </c:pt>
                <c:pt idx="3">
                  <c:v>52.2</c:v>
                </c:pt>
                <c:pt idx="4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Predicción +16 semanas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Premier</c:v>
                  </c:pt>
                  <c:pt idx="1">
                    <c:v>La Liga</c:v>
                  </c:pt>
                  <c:pt idx="2">
                    <c:v>Bundesliga</c:v>
                  </c:pt>
                  <c:pt idx="3">
                    <c:v>Serie A</c:v>
                  </c:pt>
                  <c:pt idx="4">
                    <c:v>Ligue 1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60.4</c:v>
                </c:pt>
                <c:pt idx="1">
                  <c:v>51.5</c:v>
                </c:pt>
                <c:pt idx="2">
                  <c:v>60.4</c:v>
                </c:pt>
                <c:pt idx="3">
                  <c:v>41.9</c:v>
                </c:pt>
                <c:pt idx="4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0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B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0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últimas 10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Real Madrid</c:v>
                  </c:pt>
                  <c:pt idx="1">
                    <c:v>Man City</c:v>
                  </c:pt>
                  <c:pt idx="2">
                    <c:v>Barcelona</c:v>
                  </c:pt>
                  <c:pt idx="3">
                    <c:v>PSG</c:v>
                  </c:pt>
                  <c:pt idx="4">
                    <c:v>Juventus</c:v>
                  </c:pt>
                  <c:pt idx="5">
                    <c:v>Arsenal</c:v>
                  </c:pt>
                  <c:pt idx="6">
                    <c:v>Bayern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15.1</c:v>
                </c:pt>
                <c:pt idx="1">
                  <c:v>12</c:v>
                </c:pt>
                <c:pt idx="2">
                  <c:v>7.8</c:v>
                </c:pt>
                <c:pt idx="3">
                  <c:v>1.9</c:v>
                </c:pt>
                <c:pt idx="4">
                  <c:v>2.7</c:v>
                </c:pt>
                <c:pt idx="5">
                  <c:v>-0.1</c:v>
                </c:pt>
                <c:pt idx="6">
                  <c:v>-3.4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Gap últimas 5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Real Madrid</c:v>
                  </c:pt>
                  <c:pt idx="1">
                    <c:v>Man City</c:v>
                  </c:pt>
                  <c:pt idx="2">
                    <c:v>Barcelona</c:v>
                  </c:pt>
                  <c:pt idx="3">
                    <c:v>PSG</c:v>
                  </c:pt>
                  <c:pt idx="4">
                    <c:v>Juventus</c:v>
                  </c:pt>
                  <c:pt idx="5">
                    <c:v>Arsenal</c:v>
                  </c:pt>
                  <c:pt idx="6">
                    <c:v>Bayern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5.5</c:v>
                </c:pt>
                <c:pt idx="1">
                  <c:v>-3</c:v>
                </c:pt>
                <c:pt idx="2">
                  <c:v>19.2</c:v>
                </c:pt>
                <c:pt idx="3">
                  <c:v>8.5</c:v>
                </c:pt>
                <c:pt idx="4">
                  <c:v>-1.7</c:v>
                </c:pt>
                <c:pt idx="5">
                  <c:v>9.9</c:v>
                </c:pt>
                <c:pt idx="6">
                  <c:v>-13.1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A9BB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A203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8A9BB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8A9BB0"/>
                </a:solidFill>
                <a:latin typeface="Arial"/>
              </a:rPr>
              <a:t>Δ % over 2.5 en semanas post fecha FIFA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over 2.5 post-FIFA (pp)</c:v>
                </c:pt>
              </c:strCache>
            </c:strRef>
          </c:tx>
          <c:spPr>
            <a:solidFill>
              <a:srgbClr val="2ECC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CC7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9BB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Premier</c:v>
                  </c:pt>
                  <c:pt idx="1">
                    <c:v>La Liga</c:v>
                  </c:pt>
                  <c:pt idx="2">
                    <c:v>Bundesliga</c:v>
                  </c:pt>
                  <c:pt idx="3">
                    <c:v>Serie A</c:v>
                  </c:pt>
                  <c:pt idx="4">
                    <c:v>Ligue 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1</c:v>
                </c:pt>
                <c:pt idx="2">
                  <c:v>-0.4</c:v>
                </c:pt>
                <c:pt idx="3">
                  <c:v>-0.5</c:v>
                </c:pt>
                <c:pt idx="4">
                  <c:v>-5.2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9B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D4AA"/>
                </a:solidFill>
              </a:rPr>
              <a:t>REPORTE DE INTELIGENCIA DE NEGOCIOS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Football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Intelligence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</a:rPr>
              <a:t>Análisis de mercado de apuestas en las 5 grandes ligas europeas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BB0"/>
                </a:solidFill>
              </a:rPr>
              <a:t>2019 —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114800"/>
            <a:ext cx="1965960" cy="777240"/>
          </a:xfrm>
          <a:prstGeom prst="rect">
            <a:avLst/>
          </a:prstGeom>
          <a:solidFill>
            <a:srgbClr val="1A203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4224528"/>
            <a:ext cx="19659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11,851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4565599"/>
            <a:ext cx="19659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partidos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4114800"/>
            <a:ext cx="1965960" cy="777240"/>
          </a:xfrm>
          <a:prstGeom prst="rect">
            <a:avLst/>
          </a:prstGeom>
          <a:solidFill>
            <a:srgbClr val="1A203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4224528"/>
            <a:ext cx="19659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42032" y="4565599"/>
            <a:ext cx="19659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ligas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4114800"/>
            <a:ext cx="1965960" cy="777240"/>
          </a:xfrm>
          <a:prstGeom prst="rect">
            <a:avLst/>
          </a:prstGeom>
          <a:solidFill>
            <a:srgbClr val="1A203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4224528"/>
            <a:ext cx="19659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7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18304" y="4565599"/>
            <a:ext cx="19659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temporadas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94576" y="4114800"/>
            <a:ext cx="1965960" cy="777240"/>
          </a:xfrm>
          <a:prstGeom prst="rect">
            <a:avLst/>
          </a:prstGeom>
          <a:solidFill>
            <a:srgbClr val="1A203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4224528"/>
            <a:ext cx="19659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17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94576" y="4565599"/>
            <a:ext cx="19659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análisis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</a:rPr>
              <a:t>CONTEXTO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¿Para quién y para qué?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4160520" cy="3474720"/>
          </a:xfrm>
          <a:prstGeom prst="rect">
            <a:avLst/>
          </a:prstGeom>
          <a:solidFill>
            <a:srgbClr val="1A2030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4160520" cy="41148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Casa de apuestas (Pinnacle-style)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Detectar ligas donde el overround está mal calibrado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603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Identificar si el smart money corrige aperturas sistemáticamente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Anticipar tendencias de mercado (over/under por liga)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31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Validar si la ventaja de local está bien preciada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160520" cy="3474720"/>
          </a:xfrm>
          <a:prstGeom prst="rect">
            <a:avLst/>
          </a:prstGeom>
          <a:solidFill>
            <a:srgbClr val="1A203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25880"/>
            <a:ext cx="4160520" cy="4114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325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Tipster con equipo de análisis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8745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Encontrar value bets con evidencia estadística 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4688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5603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Detectar equipos cuya cuota no refleja su forma reciente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1546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2461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Explotar el efecto post-fecha FIFA en Ligue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840480"/>
            <a:ext cx="3840480" cy="0"/>
          </a:xfrm>
          <a:prstGeom prst="line">
            <a:avLst/>
          </a:prstGeom>
          <a:noFill/>
          <a:ln w="6350">
            <a:solidFill>
              <a:srgbClr val="1418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93192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Comparar win rate rodante vs probabilidad implícita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Dataset: football-data.co.uk — Premier League, La Liga, Bundesliga, Serie A, Ligue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4C3C"/>
                </a:solidFill>
              </a:rPr>
              <a:t>HALLAZGO 1 — OVERROUND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Las casas suben su margen año tras año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</a:rPr>
              <a:t>El overround semanal tiene tendencia alcista significativa en TODAS las ligas (p = 0.000)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60020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349240" y="1600200"/>
            <a:ext cx="3337560" cy="530352"/>
          </a:xfrm>
          <a:prstGeom prst="rect">
            <a:avLst/>
          </a:prstGeom>
          <a:solidFill>
            <a:srgbClr val="1A2030"/>
          </a:solidFill>
          <a:ln w="1905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49240" y="1709928"/>
            <a:ext cx="333756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98DB"/>
                </a:solidFill>
              </a:rPr>
              <a:t>4.38%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349240" y="1907804"/>
            <a:ext cx="333756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Premier League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49240" y="2194560"/>
            <a:ext cx="3337560" cy="530352"/>
          </a:xfrm>
          <a:prstGeom prst="rect">
            <a:avLst/>
          </a:prstGeom>
          <a:solidFill>
            <a:srgbClr val="1A203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349240" y="2304288"/>
            <a:ext cx="333756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</a:rPr>
              <a:t>4.88%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349240" y="2502164"/>
            <a:ext cx="333756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Serie 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49240" y="2788920"/>
            <a:ext cx="3337560" cy="530352"/>
          </a:xfrm>
          <a:prstGeom prst="rect">
            <a:avLst/>
          </a:prstGeom>
          <a:solidFill>
            <a:srgbClr val="1A203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349240" y="2898648"/>
            <a:ext cx="333756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4.76%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349240" y="3096524"/>
            <a:ext cx="333756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La Liga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3383280"/>
            <a:ext cx="3337560" cy="530352"/>
          </a:xfrm>
          <a:prstGeom prst="rect">
            <a:avLst/>
          </a:prstGeom>
          <a:solidFill>
            <a:srgbClr val="1A203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349240" y="3493008"/>
            <a:ext cx="333756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4.71%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5349240" y="3690884"/>
            <a:ext cx="333756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Bundesliga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49240" y="3977640"/>
            <a:ext cx="3337560" cy="530352"/>
          </a:xfrm>
          <a:prstGeom prst="rect">
            <a:avLst/>
          </a:prstGeom>
          <a:solidFill>
            <a:srgbClr val="1A2030"/>
          </a:solidFill>
          <a:ln w="1905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49240" y="4087368"/>
            <a:ext cx="333756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B59B6"/>
                </a:solidFill>
              </a:rPr>
              <a:t>5.07%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5349240" y="4285244"/>
            <a:ext cx="3337560" cy="201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Ligue 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Premier League: R²=0.29 — el margen más bajo pero el que crece más consistentemente.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39C12"/>
                </a:solidFill>
              </a:rPr>
              <a:t>HALLAZGO 2 — SERIE 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Serie A: el over 2.5 colapsa — la línea está desactualizada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344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34440"/>
            <a:ext cx="2788920" cy="713232"/>
          </a:xfrm>
          <a:prstGeom prst="rect">
            <a:avLst/>
          </a:prstGeom>
          <a:solidFill>
            <a:srgbClr val="1A203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344168"/>
            <a:ext cx="2788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−0.078pp/sem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943600" y="1648115"/>
            <a:ext cx="2788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caída semanal Serie 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43600" y="2057400"/>
            <a:ext cx="2788920" cy="713232"/>
          </a:xfrm>
          <a:prstGeom prst="rect">
            <a:avLst/>
          </a:prstGeom>
          <a:solidFill>
            <a:srgbClr val="1A2030"/>
          </a:solidFill>
          <a:ln w="1905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167128"/>
            <a:ext cx="2788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39C12"/>
                </a:solidFill>
              </a:rPr>
              <a:t>R² = 0.10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943600" y="2471075"/>
            <a:ext cx="2788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poder explicativo del modelo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3600" y="2880360"/>
            <a:ext cx="2788920" cy="713232"/>
          </a:xfrm>
          <a:prstGeom prst="rect">
            <a:avLst/>
          </a:prstGeom>
          <a:solidFill>
            <a:srgbClr val="1A203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990088"/>
            <a:ext cx="2788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</a:rPr>
              <a:t>p &lt; 0.001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0" y="3294035"/>
            <a:ext cx="2788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estadísticamente significativo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3703320"/>
            <a:ext cx="2788920" cy="713232"/>
          </a:xfrm>
          <a:prstGeom prst="rect">
            <a:avLst/>
          </a:prstGeom>
          <a:solidFill>
            <a:srgbClr val="1A203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0" y="3813048"/>
            <a:ext cx="2788920" cy="3922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52% → 42%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43600" y="4116995"/>
            <a:ext cx="2788920" cy="27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media histórica vs pred. +16w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La línea de over 2.5 en Serie A está sobrevaluada. El mercado no ha ajustado aún.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CC71"/>
                </a:solidFill>
              </a:rPr>
              <a:t>HALLAZGO 3 — VALUE BETS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La casa no ha ajustado las cuotas a la forma reciente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Gap = win rate rodante − probabilidad implícita de la casa. Positivo = la casa subestima al equipo.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55448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554480"/>
            <a:ext cx="2651760" cy="960120"/>
          </a:xfrm>
          <a:prstGeom prst="rect">
            <a:avLst/>
          </a:prstGeom>
          <a:solidFill>
            <a:srgbClr val="1A2030"/>
          </a:solidFill>
          <a:ln w="1524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6093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 Madrid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98DB"/>
                </a:solidFill>
              </a:rPr>
              <a:t>+15.1pp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8076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90% wins últ. 10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casa dice 75.9%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080760" y="2633472"/>
            <a:ext cx="2651760" cy="960120"/>
          </a:xfrm>
          <a:prstGeom prst="rect">
            <a:avLst/>
          </a:prstGeom>
          <a:solidFill>
            <a:srgbClr val="1A2030"/>
          </a:solidFill>
          <a:ln w="1524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6883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Barcelona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9077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</a:rPr>
              <a:t>+19.2pp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80760" y="32278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gap creciente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value acelerando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0760" y="3712464"/>
            <a:ext cx="2651760" cy="960120"/>
          </a:xfrm>
          <a:prstGeom prst="rect">
            <a:avLst/>
          </a:prstGeom>
          <a:solidFill>
            <a:srgbClr val="1A2030"/>
          </a:solidFill>
          <a:ln w="1524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37673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Arsenal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39867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C71"/>
                </a:solidFill>
              </a:rPr>
              <a:t>+9.9pp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080760" y="43068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racha caliente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A9BB0"/>
                </a:solidFill>
              </a:rPr>
              <a:t>casa sin ajustar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Gap positivo + tendencia creciente = la casa tiene lag. El mercado se corregirá.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59B6"/>
                </a:solidFill>
              </a:rPr>
              <a:t>HALLAZGO 4 — EFECTO CALENDARIO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Ligue 1 post fecha FIFA: el under 2.5 tiene edge histórico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2344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234440"/>
            <a:ext cx="3063240" cy="694944"/>
          </a:xfrm>
          <a:prstGeom prst="rect">
            <a:avLst/>
          </a:prstGeom>
          <a:solidFill>
            <a:srgbClr val="1A2030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23560" y="1344168"/>
            <a:ext cx="3063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74C3C"/>
                </a:solidFill>
              </a:rPr>
              <a:t>−5.2pp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623560" y="1637508"/>
            <a:ext cx="3063240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caída en over 2.5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post fecha FIFA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623560" y="2039112"/>
            <a:ext cx="3063240" cy="694944"/>
          </a:xfrm>
          <a:prstGeom prst="rect">
            <a:avLst/>
          </a:prstGeom>
          <a:solidFill>
            <a:srgbClr val="1A2030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23560" y="2148840"/>
            <a:ext cx="3063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CC71"/>
                </a:solidFill>
              </a:rPr>
              <a:t>50.3%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5623560" y="2442180"/>
            <a:ext cx="3063240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win rate under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post-FIFA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2843784"/>
            <a:ext cx="3063240" cy="694944"/>
          </a:xfrm>
          <a:prstGeom prst="rect">
            <a:avLst/>
          </a:prstGeom>
          <a:solidFill>
            <a:srgbClr val="1A203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23560" y="2953512"/>
            <a:ext cx="3063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D4AA"/>
                </a:solidFill>
              </a:rPr>
              <a:t>+9.6pp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623560" y="3246852"/>
            <a:ext cx="3063240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mejor ROI que under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en semanas normales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23560" y="3648456"/>
            <a:ext cx="3063240" cy="694944"/>
          </a:xfrm>
          <a:prstGeom prst="rect">
            <a:avLst/>
          </a:prstGeom>
          <a:solidFill>
            <a:srgbClr val="1A2030"/>
          </a:solidFill>
          <a:ln w="19050">
            <a:solidFill>
              <a:srgbClr val="8A9BB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23560" y="3758184"/>
            <a:ext cx="3063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9BB0"/>
                </a:solidFill>
              </a:rPr>
              <a:t>885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623560" y="4051524"/>
            <a:ext cx="3063240" cy="264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partidos analizados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</a:rPr>
              <a:t>en ese contexto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46451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D4AA"/>
                </a:solidFill>
              </a:rPr>
              <a:t>La única liga donde el calendario internacional impacta significativamente los goles. Estrategia accionable.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498DB"/>
                </a:solidFill>
              </a:rPr>
              <a:t>METODOLOGÍA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Técnicas aplicadas al análisis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3498D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2743200" cy="329184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13258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Regresión Lineal 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21208" y="170992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17 series de tiempo semanales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R² hasta 0.29 en overround Premier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9272" y="132588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00D4A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9272" y="1325880"/>
            <a:ext cx="2743200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3258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Forecasting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170992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Train/test 80/20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MAE y RMSE sobre datos no vistos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Predicción a 16 semanas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27064" y="132588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27064" y="1325880"/>
            <a:ext cx="274320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13258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KNN Classification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36792" y="170992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Clasificación de resultados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por variables de odds y rendimiento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Validado con precisión y F1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6324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063240"/>
            <a:ext cx="2743200" cy="32918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3063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K-Means Clustering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" y="3447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Segmentación de partidos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por perfil de mercado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Detección de tipos de partido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9272" y="306324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9B59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9272" y="3063240"/>
            <a:ext cx="2743200" cy="329184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063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Pruebas estadísticas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447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Kruskal-Wallis, Mann-Whitney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Bonferroni, Wilcoxon pareado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Validación de normalidad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27064" y="3063240"/>
            <a:ext cx="2743200" cy="1572768"/>
          </a:xfrm>
          <a:prstGeom prst="rect">
            <a:avLst/>
          </a:prstGeom>
          <a:solidFill>
            <a:srgbClr val="1A2030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27064" y="3063240"/>
            <a:ext cx="274320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306324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Análisis de texto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36792" y="344728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WordCloud de 59,255 tokens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Corpus narrativo por partido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</a:rPr>
              <a:t>Frecuencia por liga y temporada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</a:rPr>
              <a:t>RESUMEN ACCIONABLE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¿Dónde apostar? Mapa de eficiencia por liga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80160"/>
          <a:ext cx="832104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80160"/>
                <a:gridCol w="1280160"/>
                <a:gridCol w="1280160"/>
                <a:gridCol w="1554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Liga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 over 2.5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Margen casa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Bias local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Efecto FIFA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Señal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Premier League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54.9%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</a:rPr>
                        <a:t>4.38%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+2.1pp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+0.9pp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Eficiente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La Liga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46.4%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4.76%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+1.2pp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+1.0pp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Eficiente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Bundesliga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</a:rPr>
                        <a:t>61.1%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4.71%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</a:rPr>
                        <a:t>+3.0pp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−0.4pp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39C12"/>
                          </a:solidFill>
                        </a:rPr>
                        <a:t>Over 2.5 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Serie 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52.4%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4.88%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+4.4pp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−0.5pp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Under 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Ligue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52.8%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</a:rPr>
                        <a:t>5.07%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8A9BB0"/>
                          </a:solidFill>
                        </a:rPr>
                        <a:t>+2.5pp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B59B6"/>
                          </a:solidFill>
                        </a:rPr>
                        <a:t>−5.2pp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B59B6"/>
                          </a:solidFill>
                        </a:rPr>
                        <a:t>Under FIFA 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03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8920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</a:rPr>
              <a:t>★ Under 2.5 en Ligue 1 en semanas post fecha FIFA — señal más específica y accionable del análisis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4AA"/>
                </a:solidFill>
              </a:rPr>
              <a:t>CONCLUSIONES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Lo que encontramos — y lo que no podemos prometer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C71"/>
                </a:solidFill>
              </a:rPr>
              <a:t>Confirmado estadísticamente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Overround sube en todas las ligas (p=0.000)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2139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Serie A: caída significativa de over 2.5 (R²=0.10)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261518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Smart money mueve cuota Serie A consistentemente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3090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Ligue 1 post-FIFA reduce goles (−5.2pp over 2.5)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3566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Ventaja local es real pero estable, no decae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40416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CC71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2do tiempo produce más goles que 1er tiempo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</a:rPr>
              <a:t>Limitaciones honestas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66420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R² bajo en mayoría de modelos — alta varianza natural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139696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Cuotas de under no disponibles directamente en el dataset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63440" y="261518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Lesiones y alineaciones no están consideradas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3090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El lag de mercado puede corregirse rápidamente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356616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</a:rPr>
              <a:t>⚠  </a:t>
            </a:r>
            <a:pPr indent="0" marL="0">
              <a:buNone/>
            </a:pPr>
            <a:r>
              <a:rPr lang="en-US" sz="1050" dirty="0">
                <a:solidFill>
                  <a:srgbClr val="8A9BB0"/>
                </a:solidFill>
              </a:rPr>
              <a:t>Regresión lineal asume tendencia constante — no captura cambios de régimen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1234440"/>
            <a:ext cx="0" cy="3291840"/>
          </a:xfrm>
          <a:prstGeom prst="line">
            <a:avLst/>
          </a:prstGeom>
          <a:noFill/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BB0"/>
                </a:solidFill>
              </a:rPr>
              <a:t>El análisis no promete rentabilidad. Muestra patrones históricos que el mercado puede o no haber corregido ya.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Football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Intelligence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BB0"/>
                </a:solidFill>
              </a:rPr>
              <a:t>11,851 partidos  ·  5 ligas  ·  7 temporadas  ·  17 análisis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3383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Minería de Datos — UANL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</a:rPr>
              <a:t>github.com/luise/football-data-mining-analysis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4206240"/>
            <a:ext cx="8321040" cy="685800"/>
          </a:xfrm>
          <a:prstGeom prst="rect">
            <a:avLst/>
          </a:prstGeom>
          <a:solidFill>
            <a:srgbClr val="1A203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06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D4AA"/>
                </a:solidFill>
              </a:rPr>
              <a:t>"Los datos no garantizan ganancias. Garantizan mejores preguntas."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Intelligence — PIA Minería de Datos</dc:title>
  <dc:subject>PptxGenJS Presentation</dc:subject>
  <dc:creator>PptxGenJS</dc:creator>
  <cp:lastModifiedBy>PptxGenJS</cp:lastModifiedBy>
  <cp:revision>1</cp:revision>
  <dcterms:created xsi:type="dcterms:W3CDTF">2026-05-13T20:44:25Z</dcterms:created>
  <dcterms:modified xsi:type="dcterms:W3CDTF">2026-05-13T20:44:25Z</dcterms:modified>
</cp:coreProperties>
</file>